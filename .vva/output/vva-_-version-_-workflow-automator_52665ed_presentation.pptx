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Initial VVA project setup</a:t>
            </a:r>
          </a:p>
        </p:txBody>
      </p:sp>
      <p:sp>
        <p:nvSpPr>
          <p:cNvPr id="3" name="Subtitle 2"/>
          <p:cNvSpPr>
            <a:spLocks noGrp="1"/>
          </p:cNvSpPr>
          <p:nvPr>
            <p:ph type="subTitle" idx="1"/>
          </p:nvPr>
        </p:nvSpPr>
        <p:spPr/>
        <p:txBody>
          <a:bodyPr/>
          <a:lstStyle/>
          <a:p>
            <a:r>
              <a:t>Repository: vva-—-version-&amp;-workflow-automator</a:t>
            </a:r>
          </a:p>
          <a:p>
            <a:r>
              <a:t>Commit: 52665edfe18bd32a0592918e77c5e78a502fe06b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pPr>
              <a:defRPr sz="2000">
                <a:solidFill>
                  <a:srgbClr val="2D3748"/>
                </a:solidFill>
              </a:defRPr>
            </a:pPr>
            <a:r>
              <a:t>This commit establishes the foundational structure for the VVA (Version &amp; Workflow Automator) project. It adds a comprehensive set of source files, configuration files, and dependencies required to run the application locally and to orchestrate the Git‑to‑AI‑to‑Document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Purpose and Rationale</a:t>
            </a:r>
          </a:p>
        </p:txBody>
      </p:sp>
      <p:sp>
        <p:nvSpPr>
          <p:cNvPr id="3" name="Content Placeholder 2"/>
          <p:cNvSpPr>
            <a:spLocks noGrp="1"/>
          </p:cNvSpPr>
          <p:nvPr>
            <p:ph idx="1"/>
          </p:nvPr>
        </p:nvSpPr>
        <p:spPr/>
        <p:txBody>
          <a:bodyPr/>
          <a:lstStyle/>
          <a:p>
            <a:pPr>
              <a:defRPr sz="2000">
                <a:solidFill>
                  <a:srgbClr val="2D3748"/>
                </a:solidFill>
              </a:defRPr>
            </a:pPr>
            <a:r>
              <a:t>The purpose of this commit is to bootstrap the VVA codebase, providing the core CLI, React UI, Git data collection logic, AI analysis engine, and document generation utilities. It also includes environment configuration, package manifests, and lock files to ensure reproducible builds.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.env.example</a:t>
            </a:r>
          </a:p>
          <a:p>
            <a:pPr>
              <a:defRPr sz="2000">
                <a:solidFill>
                  <a:srgbClr val="2D3748"/>
                </a:solidFill>
              </a:defRPr>
            </a:pPr>
            <a:r>
              <a:t> .gitignore</a:t>
            </a:r>
          </a:p>
          <a:p>
            <a:pPr>
              <a:defRPr sz="2000">
                <a:solidFill>
                  <a:srgbClr val="2D3748"/>
                </a:solidFill>
              </a:defRPr>
            </a:pPr>
            <a:r>
              <a:t> README.md</a:t>
            </a:r>
          </a:p>
          <a:p>
            <a:pPr>
              <a:defRPr sz="2000">
                <a:solidFill>
                  <a:srgbClr val="2D3748"/>
                </a:solidFill>
              </a:defRPr>
            </a:pPr>
            <a:r>
              <a:t> ai/ai_engine.py</a:t>
            </a:r>
          </a:p>
          <a:p>
            <a:pPr>
              <a:defRPr sz="2000">
                <a:solidFill>
                  <a:srgbClr val="2D3748"/>
                </a:solidFill>
              </a:defRPr>
            </a:pPr>
            <a:r>
              <a:t> ai/test_nvidia.py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bin/vva.js</a:t>
            </a:r>
          </a:p>
          <a:p>
            <a:pPr>
              <a:defRPr sz="2000">
                <a:solidFill>
                  <a:srgbClr val="2D3748"/>
                </a:solidFill>
              </a:defRPr>
            </a:pPr>
            <a:r>
              <a:t> bun.lock</a:t>
            </a:r>
          </a:p>
          <a:p>
            <a:pPr>
              <a:defRPr sz="2000">
                <a:solidFill>
                  <a:srgbClr val="2D3748"/>
                </a:solidFill>
              </a:defRPr>
            </a:pPr>
            <a:r>
              <a:t> index.html</a:t>
            </a:r>
          </a:p>
          <a:p>
            <a:pPr>
              <a:defRPr sz="2000">
                <a:solidFill>
                  <a:srgbClr val="2D3748"/>
                </a:solidFill>
              </a:defRPr>
            </a:pPr>
            <a:r>
              <a:t> metadata.json</a:t>
            </a:r>
          </a:p>
          <a:p>
            <a:pPr>
              <a:defRPr sz="2000">
                <a:solidFill>
                  <a:srgbClr val="2D3748"/>
                </a:solidFill>
              </a:defRPr>
            </a:pPr>
            <a:r>
              <a:t> package.json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public/assets/aistudio/Paste_October_19__2026_-_11_34PM_90cde589</a:t>
            </a:r>
          </a:p>
          <a:p>
            <a:pPr>
              <a:defRPr sz="2000">
                <a:solidFill>
                  <a:srgbClr val="2D3748"/>
                </a:solidFill>
              </a:defRPr>
            </a:pPr>
            <a:r>
              <a:t> schemas/ai-response.schema.json</a:t>
            </a:r>
          </a:p>
          <a:p>
            <a:pPr>
              <a:defRPr sz="2000">
                <a:solidFill>
                  <a:srgbClr val="2D3748"/>
                </a:solidFill>
              </a:defRPr>
            </a:pPr>
            <a:r>
              <a:t> schemas/project-data.schema.json</a:t>
            </a:r>
          </a:p>
          <a:p>
            <a:pPr>
              <a:defRPr sz="2000">
                <a:solidFill>
                  <a:srgbClr val="2D3748"/>
                </a:solidFill>
              </a:defRPr>
            </a:pPr>
            <a:r>
              <a:t> src/App.tsx</a:t>
            </a:r>
          </a:p>
          <a:p>
            <a:pPr>
              <a:defRPr sz="2000">
                <a:solidFill>
                  <a:srgbClr val="2D3748"/>
                </a:solidFill>
              </a:defRPr>
            </a:pPr>
            <a:r>
              <a:t> src/cli.js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src/commands/init.js</a:t>
            </a:r>
          </a:p>
          <a:p>
            <a:pPr>
              <a:defRPr sz="2000">
                <a:solidFill>
                  <a:srgbClr val="2D3748"/>
                </a:solidFill>
              </a:defRPr>
            </a:pPr>
            <a:r>
              <a:t> src/commands/report.js</a:t>
            </a:r>
          </a:p>
          <a:p>
            <a:pPr>
              <a:defRPr sz="2000">
                <a:solidFill>
                  <a:srgbClr val="2D3748"/>
                </a:solidFill>
              </a:defRPr>
            </a:pPr>
            <a:r>
              <a:t> src/commands/status.js</a:t>
            </a:r>
          </a:p>
          <a:p>
            <a:pPr>
              <a:defRPr sz="2000">
                <a:solidFill>
                  <a:srgbClr val="2D3748"/>
                </a:solidFill>
              </a:defRPr>
            </a:pPr>
            <a:r>
              <a:t> src/commands/watch.js</a:t>
            </a:r>
          </a:p>
          <a:p>
            <a:pPr>
              <a:defRPr sz="2000">
                <a:solidFill>
                  <a:srgbClr val="2D3748"/>
                </a:solidFill>
              </a:defRPr>
            </a:pPr>
            <a:r>
              <a:t> src/components/AIEngineView.tsx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src/components/ArchitectureView.tsx</a:t>
            </a:r>
          </a:p>
          <a:p>
            <a:pPr>
              <a:defRPr sz="2000">
                <a:solidFill>
                  <a:srgbClr val="2D3748"/>
                </a:solidFill>
              </a:defRPr>
            </a:pPr>
            <a:r>
              <a:t> src/components/DocumentEngineView.tsx</a:t>
            </a:r>
          </a:p>
          <a:p>
            <a:pPr>
              <a:defRPr sz="2000">
                <a:solidFill>
                  <a:srgbClr val="2D3748"/>
                </a:solidFill>
              </a:defRPr>
            </a:pPr>
            <a:r>
              <a:t> src/components/GitCollectorView.tsx</a:t>
            </a:r>
          </a:p>
          <a:p>
            <a:pPr>
              <a:defRPr sz="2000">
                <a:solidFill>
                  <a:srgbClr val="2D3748"/>
                </a:solidFill>
              </a:defRPr>
            </a:pPr>
            <a:r>
              <a:t> src/components/Header.tsx</a:t>
            </a:r>
          </a:p>
          <a:p>
            <a:pPr>
              <a:defRPr sz="2000">
                <a:solidFill>
                  <a:srgbClr val="2D3748"/>
                </a:solidFill>
              </a:defRPr>
            </a:pPr>
            <a:r>
              <a:t> src/components/TeamVivaView.tsx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src/components/TerminalView.tsx</a:t>
            </a:r>
          </a:p>
          <a:p>
            <a:pPr>
              <a:defRPr sz="2000">
                <a:solidFill>
                  <a:srgbClr val="2D3748"/>
                </a:solidFill>
              </a:defRPr>
            </a:pPr>
            <a:r>
              <a:t> src/core/collector.js</a:t>
            </a:r>
          </a:p>
          <a:p>
            <a:pPr>
              <a:defRPr sz="2000">
                <a:solidFill>
                  <a:srgbClr val="2D3748"/>
                </a:solidFill>
              </a:defRPr>
            </a:pPr>
            <a:r>
              <a:t> src/core/git.js</a:t>
            </a:r>
          </a:p>
          <a:p>
            <a:pPr>
              <a:defRPr sz="2000">
                <a:solidFill>
                  <a:srgbClr val="2D3748"/>
                </a:solidFill>
              </a:defRPr>
            </a:pPr>
            <a:r>
              <a:t> src/core/python.js</a:t>
            </a:r>
          </a:p>
          <a:p>
            <a:pPr>
              <a:defRPr sz="2000">
                <a:solidFill>
                  <a:srgbClr val="2D3748"/>
                </a:solidFill>
              </a:defRPr>
            </a:pPr>
            <a:r>
              <a:t> src/data/mockRepositories.ts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src/main.tsx</a:t>
            </a:r>
          </a:p>
          <a:p>
            <a:pPr>
              <a:defRPr sz="2000">
                <a:solidFill>
                  <a:srgbClr val="2D3748"/>
                </a:solidFill>
              </a:defRPr>
            </a:pPr>
            <a:r>
              <a:t> src/types/vva.ts</a:t>
            </a:r>
          </a:p>
          <a:p>
            <a:pPr>
              <a:defRPr sz="2000">
                <a:solidFill>
                  <a:srgbClr val="2D3748"/>
                </a:solidFill>
              </a:defRPr>
            </a:pPr>
            <a:r>
              <a:t> src/utils/docxExporter.ts</a:t>
            </a:r>
          </a:p>
          <a:p>
            <a:pPr>
              <a:defRPr sz="2000">
                <a:solidFill>
                  <a:srgbClr val="2D3748"/>
                </a:solidFill>
              </a:defRPr>
            </a:pPr>
            <a:r>
              <a:t> src/utils/orchestrator.ts</a:t>
            </a:r>
          </a:p>
          <a:p>
            <a:pPr>
              <a:defRPr sz="2000">
                <a:solidFill>
                  <a:srgbClr val="2D3748"/>
                </a:solidFill>
              </a:defRPr>
            </a:pPr>
            <a:r>
              <a:t> src/utils/pdfGenerator.ts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Changed Components</a:t>
            </a:r>
          </a:p>
        </p:txBody>
      </p:sp>
      <p:sp>
        <p:nvSpPr>
          <p:cNvPr id="3" name="Content Placeholder 2"/>
          <p:cNvSpPr>
            <a:spLocks noGrp="1"/>
          </p:cNvSpPr>
          <p:nvPr>
            <p:ph idx="1"/>
          </p:nvPr>
        </p:nvSpPr>
        <p:spPr/>
        <p:txBody>
          <a:bodyPr/>
          <a:lstStyle/>
          <a:p>
            <a:pPr>
              <a:defRPr sz="2000">
                <a:solidFill>
                  <a:srgbClr val="2D3748"/>
                </a:solidFill>
              </a:defRPr>
            </a:pPr>
            <a:r>
              <a:t> tsconfig.json</a:t>
            </a:r>
          </a:p>
          <a:p>
            <a:pPr>
              <a:defRPr sz="2000">
                <a:solidFill>
                  <a:srgbClr val="2D3748"/>
                </a:solidFill>
              </a:defRPr>
            </a:pPr>
            <a:r>
              <a:t> vite.config.ts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Changes</a:t>
            </a:r>
          </a:p>
        </p:txBody>
      </p:sp>
      <p:sp>
        <p:nvSpPr>
          <p:cNvPr id="3" name="Content Placeholder 2"/>
          <p:cNvSpPr>
            <a:spLocks noGrp="1"/>
          </p:cNvSpPr>
          <p:nvPr>
            <p:ph idx="1"/>
          </p:nvPr>
        </p:nvSpPr>
        <p:spPr/>
        <p:txBody>
          <a:bodyPr/>
          <a:lstStyle/>
          <a:p>
            <a:pPr>
              <a:defRPr sz="2000">
                <a:solidFill>
                  <a:srgbClr val="2D3748"/>
                </a:solidFill>
              </a:defRPr>
            </a:pPr>
            <a:r>
              <a:t>Added environment example with NVIDIA API key and model configuration</a:t>
            </a:r>
          </a:p>
          <a:p>
            <a:pPr>
              <a:defRPr sz="2000">
                <a:solidFill>
                  <a:srgbClr val="2D3748"/>
                </a:solidFill>
              </a:defRPr>
            </a:pPr>
            <a:r>
              <a:t>Created .gitignore to exclude build artifacts and logs</a:t>
            </a:r>
          </a:p>
          <a:p>
            <a:pPr>
              <a:defRPr sz="2000">
                <a:solidFill>
                  <a:srgbClr val="2D3748"/>
                </a:solidFill>
              </a:defRPr>
            </a:pPr>
            <a:r>
              <a:t>Provided README with local run instructions</a:t>
            </a:r>
          </a:p>
          <a:p>
            <a:pPr>
              <a:defRPr sz="2000">
                <a:solidFill>
                  <a:srgbClr val="2D3748"/>
                </a:solidFill>
              </a:defRPr>
            </a:pPr>
            <a:r>
              <a:t>Implemented ai/ai_engine.py to invoke NVIDIA API for commit analysis</a:t>
            </a:r>
          </a:p>
          <a:p>
            <a:pPr>
              <a:defRPr sz="2000">
                <a:solidFill>
                  <a:srgbClr val="2D3748"/>
                </a:solidFill>
              </a:defRPr>
            </a:pPr>
            <a:r>
              <a:t>Added ai/test_nvidia.py for API connectivity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Changes</a:t>
            </a:r>
          </a:p>
        </p:txBody>
      </p:sp>
      <p:sp>
        <p:nvSpPr>
          <p:cNvPr id="3" name="Content Placeholder 2"/>
          <p:cNvSpPr>
            <a:spLocks noGrp="1"/>
          </p:cNvSpPr>
          <p:nvPr>
            <p:ph idx="1"/>
          </p:nvPr>
        </p:nvSpPr>
        <p:spPr/>
        <p:txBody>
          <a:bodyPr/>
          <a:lstStyle/>
          <a:p>
            <a:pPr>
              <a:defRPr sz="2000">
                <a:solidFill>
                  <a:srgbClr val="2D3748"/>
                </a:solidFill>
              </a:defRPr>
            </a:pPr>
            <a:r>
              <a:t>Created bin/vva.js as CLI entry point</a:t>
            </a:r>
          </a:p>
          <a:p>
            <a:pPr>
              <a:defRPr sz="2000">
                <a:solidFill>
                  <a:srgbClr val="2D3748"/>
                </a:solidFill>
              </a:defRPr>
            </a:pPr>
            <a:r>
              <a:t>Generated bun.lock with full dependency tree</a:t>
            </a:r>
          </a:p>
          <a:p>
            <a:pPr>
              <a:defRPr sz="2000">
                <a:solidFill>
                  <a:srgbClr val="2D3748"/>
                </a:solidFill>
              </a:defRPr>
            </a:pPr>
            <a:r>
              <a:t>Set up index.html and metadata.json for web deployment</a:t>
            </a:r>
          </a:p>
          <a:p>
            <a:pPr>
              <a:defRPr sz="2000">
                <a:solidFill>
                  <a:srgbClr val="2D3748"/>
                </a:solidFill>
              </a:defRPr>
            </a:pPr>
            <a:r>
              <a:t>Included comprehensive project description in public/assets</a:t>
            </a:r>
          </a:p>
          <a:p>
            <a:pPr>
              <a:defRPr sz="2000">
                <a:solidFill>
                  <a:srgbClr val="2D3748"/>
                </a:solidFill>
              </a:defRPr>
            </a:pPr>
            <a:r>
              <a:t>Defined JSON schemas for AI response and project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Changes</a:t>
            </a:r>
          </a:p>
        </p:txBody>
      </p:sp>
      <p:sp>
        <p:nvSpPr>
          <p:cNvPr id="3" name="Content Placeholder 2"/>
          <p:cNvSpPr>
            <a:spLocks noGrp="1"/>
          </p:cNvSpPr>
          <p:nvPr>
            <p:ph idx="1"/>
          </p:nvPr>
        </p:nvSpPr>
        <p:spPr/>
        <p:txBody>
          <a:bodyPr/>
          <a:lstStyle/>
          <a:p>
            <a:pPr>
              <a:defRPr sz="2000">
                <a:solidFill>
                  <a:srgbClr val="2D3748"/>
                </a:solidFill>
              </a:defRPr>
            </a:pPr>
            <a:r>
              <a:t>Built React application entry point (src/App.tsx) and main.tsx</a:t>
            </a:r>
          </a:p>
          <a:p>
            <a:pPr>
              <a:defRPr sz="2000">
                <a:solidFill>
                  <a:srgbClr val="2D3748"/>
                </a:solidFill>
              </a:defRPr>
            </a:pPr>
            <a:r>
              <a:t>Implemented CLI command modules (init, report, status, watch)</a:t>
            </a:r>
          </a:p>
          <a:p>
            <a:pPr>
              <a:defRPr sz="2000">
                <a:solidFill>
                  <a:srgbClr val="2D3748"/>
                </a:solidFill>
              </a:defRPr>
            </a:pPr>
            <a:r>
              <a:t>Implemented core Git utilities for repository detection and data extraction</a:t>
            </a:r>
          </a:p>
          <a:p>
            <a:pPr>
              <a:defRPr sz="2000">
                <a:solidFill>
                  <a:srgbClr val="2D3748"/>
                </a:solidFill>
              </a:defRPr>
            </a:pPr>
            <a:r>
              <a:t>Implemented core collector for gathering commit metadata and diffs</a:t>
            </a:r>
          </a:p>
          <a:p>
            <a:pPr>
              <a:defRPr sz="2000">
                <a:solidFill>
                  <a:srgbClr val="2D3748"/>
                </a:solidFill>
              </a:defRPr>
            </a:pPr>
            <a:r>
              <a:t>Implemented core Python module for invoking AI and document engines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Technical Changes</a:t>
            </a:r>
          </a:p>
        </p:txBody>
      </p:sp>
      <p:sp>
        <p:nvSpPr>
          <p:cNvPr id="3" name="Content Placeholder 2"/>
          <p:cNvSpPr>
            <a:spLocks noGrp="1"/>
          </p:cNvSpPr>
          <p:nvPr>
            <p:ph idx="1"/>
          </p:nvPr>
        </p:nvSpPr>
        <p:spPr/>
        <p:txBody>
          <a:bodyPr/>
          <a:lstStyle/>
          <a:p>
            <a:pPr>
              <a:defRPr sz="2000">
                <a:solidFill>
                  <a:srgbClr val="2D3748"/>
                </a:solidFill>
              </a:defRPr>
            </a:pPr>
            <a:r>
              <a:t>Created UI components for terminal, collector, AI engine, document generation, architecture, team, and header</a:t>
            </a:r>
          </a:p>
          <a:p>
            <a:pPr>
              <a:defRPr sz="2000">
                <a:solidFill>
                  <a:srgbClr val="2D3748"/>
                </a:solidFill>
              </a:defRPr>
            </a:pPr>
            <a:r>
              <a:t>Added utility functions for orchestrating data flow and generating structured AI responses</a:t>
            </a:r>
          </a:p>
          <a:p>
            <a:pPr>
              <a:defRPr sz="2000">
                <a:solidFill>
                  <a:srgbClr val="2D3748"/>
                </a:solidFill>
              </a:defRPr>
            </a:pPr>
            <a:r>
              <a:t>Added TypeScript types for VVA data structures</a:t>
            </a:r>
          </a:p>
          <a:p>
            <a:pPr>
              <a:defRPr sz="2000">
                <a:solidFill>
                  <a:srgbClr val="2D3748"/>
                </a:solidFill>
              </a:defRPr>
            </a:pPr>
            <a:r>
              <a:t>Added PDF and Word export utilities</a:t>
            </a:r>
          </a:p>
          <a:p>
            <a:pPr>
              <a:defRPr sz="2000">
                <a:solidFill>
                  <a:srgbClr val="2D3748"/>
                </a:solidFill>
              </a:defRPr>
            </a:pPr>
            <a:r>
              <a:t>Configured TypeScript compiler options and Vite build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a:t>
            </a:r>
          </a:p>
        </p:txBody>
      </p:sp>
      <p:sp>
        <p:nvSpPr>
          <p:cNvPr id="3" name="Content Placeholder 2"/>
          <p:cNvSpPr>
            <a:spLocks noGrp="1"/>
          </p:cNvSpPr>
          <p:nvPr>
            <p:ph idx="1"/>
          </p:nvPr>
        </p:nvSpPr>
        <p:spPr/>
        <p:txBody>
          <a:bodyPr/>
          <a:lstStyle/>
          <a:p>
            <a:pPr>
              <a:defRPr sz="2000">
                <a:solidFill>
                  <a:srgbClr val="2D3748"/>
                </a:solidFill>
              </a:defRPr>
            </a:pPr>
            <a:r>
              <a:t>Node.js</a:t>
            </a:r>
          </a:p>
          <a:p>
            <a:pPr>
              <a:defRPr sz="2000">
                <a:solidFill>
                  <a:srgbClr val="2D3748"/>
                </a:solidFill>
              </a:defRPr>
            </a:pPr>
            <a:r>
              <a:t>TypeScript</a:t>
            </a:r>
          </a:p>
          <a:p>
            <a:pPr>
              <a:defRPr sz="2000">
                <a:solidFill>
                  <a:srgbClr val="2D3748"/>
                </a:solidFill>
              </a:defRPr>
            </a:pPr>
            <a:r>
              <a:t>React</a:t>
            </a:r>
          </a:p>
          <a:p>
            <a:pPr>
              <a:defRPr sz="2000">
                <a:solidFill>
                  <a:srgbClr val="2D3748"/>
                </a:solidFill>
              </a:defRPr>
            </a:pPr>
            <a:r>
              <a:t>Vite</a:t>
            </a:r>
          </a:p>
          <a:p>
            <a:pPr>
              <a:defRPr sz="2000">
                <a:solidFill>
                  <a:srgbClr val="2D3748"/>
                </a:solidFill>
              </a:defRPr>
            </a:pPr>
            <a:r>
              <a:t>Tailwind CSS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a:t>
            </a:r>
          </a:p>
        </p:txBody>
      </p:sp>
      <p:sp>
        <p:nvSpPr>
          <p:cNvPr id="3" name="Content Placeholder 2"/>
          <p:cNvSpPr>
            <a:spLocks noGrp="1"/>
          </p:cNvSpPr>
          <p:nvPr>
            <p:ph idx="1"/>
          </p:nvPr>
        </p:nvSpPr>
        <p:spPr/>
        <p:txBody>
          <a:bodyPr/>
          <a:lstStyle/>
          <a:p>
            <a:pPr>
              <a:defRPr sz="2000">
                <a:solidFill>
                  <a:srgbClr val="2D3748"/>
                </a:solidFill>
              </a:defRPr>
            </a:pPr>
            <a:r>
              <a:t>Express</a:t>
            </a:r>
          </a:p>
          <a:p>
            <a:pPr>
              <a:defRPr sz="2000">
                <a:solidFill>
                  <a:srgbClr val="2D3748"/>
                </a:solidFill>
              </a:defRPr>
            </a:pPr>
            <a:r>
              <a:t>jspdf</a:t>
            </a:r>
          </a:p>
          <a:p>
            <a:pPr>
              <a:defRPr sz="2000">
                <a:solidFill>
                  <a:srgbClr val="2D3748"/>
                </a:solidFill>
              </a:defRPr>
            </a:pPr>
            <a:r>
              <a:t>lucide-react</a:t>
            </a:r>
          </a:p>
          <a:p>
            <a:pPr>
              <a:defRPr sz="2000">
                <a:solidFill>
                  <a:srgbClr val="2D3748"/>
                </a:solidFill>
              </a:defRPr>
            </a:pPr>
            <a:r>
              <a:t>motion</a:t>
            </a:r>
          </a:p>
          <a:p>
            <a:pPr>
              <a:defRPr sz="2000">
                <a:solidFill>
                  <a:srgbClr val="2D3748"/>
                </a:solidFill>
              </a:defRPr>
            </a:pPr>
            <a:r>
              <a:t>dotenv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Technologies</a:t>
            </a:r>
          </a:p>
        </p:txBody>
      </p:sp>
      <p:sp>
        <p:nvSpPr>
          <p:cNvPr id="3" name="Content Placeholder 2"/>
          <p:cNvSpPr>
            <a:spLocks noGrp="1"/>
          </p:cNvSpPr>
          <p:nvPr>
            <p:ph idx="1"/>
          </p:nvPr>
        </p:nvSpPr>
        <p:spPr/>
        <p:txBody>
          <a:bodyPr/>
          <a:lstStyle/>
          <a:p>
            <a:pPr>
              <a:defRPr sz="2000">
                <a:solidFill>
                  <a:srgbClr val="2D3748"/>
                </a:solidFill>
              </a:defRPr>
            </a:pPr>
            <a:r>
              <a:t>OpenAI SDK</a:t>
            </a:r>
          </a:p>
          <a:p>
            <a:pPr>
              <a:defRPr sz="2000">
                <a:solidFill>
                  <a:srgbClr val="2D3748"/>
                </a:solidFill>
              </a:defRPr>
            </a:pPr>
            <a:r>
              <a:t>NVIDIA API (meta/llama-3.1-70b-instruct)</a:t>
            </a:r>
          </a:p>
          <a:p>
            <a:pPr>
              <a:defRPr sz="2000">
                <a:solidFill>
                  <a:srgbClr val="2D3748"/>
                </a:solidFill>
              </a:defRPr>
            </a:pPr>
            <a:r>
              <a:t>Python 3</a:t>
            </a:r>
          </a:p>
          <a:p>
            <a:pPr>
              <a:defRPr sz="2000">
                <a:solidFill>
                  <a:srgbClr val="2D3748"/>
                </a:solidFill>
              </a:defRPr>
            </a:pPr>
            <a:r>
              <a:t>OpenAI Python SDK</a:t>
            </a:r>
          </a:p>
          <a:p>
            <a:pPr>
              <a:defRPr sz="2000">
                <a:solidFill>
                  <a:srgbClr val="2D3748"/>
                </a:solidFill>
              </a:defRPr>
            </a:pPr>
            <a:r>
              <a:t>Bun lockfile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Architectural Impact</a:t>
            </a:r>
          </a:p>
        </p:txBody>
      </p:sp>
      <p:sp>
        <p:nvSpPr>
          <p:cNvPr id="3" name="Content Placeholder 2"/>
          <p:cNvSpPr>
            <a:spLocks noGrp="1"/>
          </p:cNvSpPr>
          <p:nvPr>
            <p:ph idx="1"/>
          </p:nvPr>
        </p:nvSpPr>
        <p:spPr/>
        <p:txBody>
          <a:bodyPr/>
          <a:lstStyle/>
          <a:p>
            <a:pPr>
              <a:defRPr sz="2000">
                <a:solidFill>
                  <a:srgbClr val="2D3748"/>
                </a:solidFill>
              </a:defRPr>
            </a:pPr>
            <a:r>
              <a:t>The commit establishes a layered architecture: a Node.js orchestrator (CLI &amp; React UI) coordinates Git data collection, AI analysis, and document generation. The AI engine runs in Python, communicating via JSON files. The project is modularized into commands, core utilities, components, and schemas, enabling clear separation of concerns and facilitating future extensions.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Observations and Limitations</a:t>
            </a:r>
          </a:p>
        </p:txBody>
      </p:sp>
      <p:sp>
        <p:nvSpPr>
          <p:cNvPr id="3" name="Content Placeholder 2"/>
          <p:cNvSpPr>
            <a:spLocks noGrp="1"/>
          </p:cNvSpPr>
          <p:nvPr>
            <p:ph idx="1"/>
          </p:nvPr>
        </p:nvSpPr>
        <p:spPr/>
        <p:txBody>
          <a:bodyPr/>
          <a:lstStyle/>
          <a:p>
            <a:pPr>
              <a:defRPr sz="2000">
                <a:solidFill>
                  <a:srgbClr val="2D3748"/>
                </a:solidFill>
              </a:defRPr>
            </a:pPr>
            <a:r>
              <a:t>The commit only adds files; no functional tests or CI configuration are present.</a:t>
            </a:r>
          </a:p>
          <a:p>
            <a:pPr>
              <a:defRPr sz="2000">
                <a:solidFill>
                  <a:srgbClr val="2D3748"/>
                </a:solidFill>
              </a:defRPr>
            </a:pPr>
            <a:r>
              <a:t>The AI engine script relies on an NVIDIA API key hard‑coded in .env.example, which may not be secure for production.</a:t>
            </a:r>
          </a:p>
          <a:p>
            <a:pPr>
              <a:defRPr sz="2000">
                <a:solidFill>
                  <a:srgbClr val="2D3748"/>
                </a:solidFill>
              </a:defRPr>
            </a:pPr>
            <a:r>
              <a:t>The bun.lock file is extremely large, potentially impacting install times.</a:t>
            </a:r>
          </a:p>
          <a:p>
            <a:pPr>
              <a:defRPr sz="2000">
                <a:solidFill>
                  <a:srgbClr val="2D3748"/>
                </a:solidFill>
              </a:defRPr>
            </a:pPr>
            <a:r>
              <a:t>The project includes both Node.js and Python components but does not provide a unified build or deployment pipeline.</a:t>
            </a:r>
          </a:p>
          <a:p>
            <a:pPr>
              <a:defRPr sz="2000">
                <a:solidFill>
                  <a:srgbClr val="2D3748"/>
                </a:solidFill>
              </a:defRPr>
            </a:pPr>
            <a:r>
              <a:t>No error handling for missing dependencies or environment variables is included in the CLI commands.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Observations and Limitations</a:t>
            </a:r>
          </a:p>
        </p:txBody>
      </p:sp>
      <p:sp>
        <p:nvSpPr>
          <p:cNvPr id="3" name="Content Placeholder 2"/>
          <p:cNvSpPr>
            <a:spLocks noGrp="1"/>
          </p:cNvSpPr>
          <p:nvPr>
            <p:ph idx="1"/>
          </p:nvPr>
        </p:nvSpPr>
        <p:spPr/>
        <p:txBody>
          <a:bodyPr/>
          <a:lstStyle/>
          <a:p>
            <a:pPr>
              <a:defRPr sz="2000">
                <a:solidFill>
                  <a:srgbClr val="2D3748"/>
                </a:solidFill>
              </a:defRPr>
            </a:pPr>
            <a:r>
              <a:t>The React UI references assets that may not be present in the repository root.</a:t>
            </a:r>
          </a:p>
          <a:p>
            <a:pPr>
              <a:defRPr sz="2000">
                <a:solidFill>
                  <a:srgbClr val="2D3748"/>
                </a:solidFill>
              </a:defRPr>
            </a:pPr>
            <a:r>
              <a:t>The commit does not include any documentation for the API endpoints used by the AI engine.</a:t>
            </a:r>
          </a:p>
          <a:p>
            <a:pPr>
              <a:defRPr sz="2000">
                <a:solidFill>
                  <a:srgbClr val="2D3748"/>
                </a:solidFill>
              </a:defRPr>
            </a:pPr>
            <a:r>
              <a:t>The TypeScript configuration uses experimental decorators without corresponding code.</a:t>
            </a:r>
          </a:p>
          <a:p>
            <a:pPr>
              <a:defRPr sz="2000">
                <a:solidFill>
                  <a:srgbClr val="2D3748"/>
                </a:solidFill>
              </a:defRPr>
            </a:pPr>
            <a:r>
              <a:t>The project relies on a specific version of the NVIDIA model (meta/llama-3.1-70b-instruct) but does not provide fallback logic.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Commit Information</a:t>
            </a:r>
          </a:p>
        </p:txBody>
      </p:sp>
      <p:sp>
        <p:nvSpPr>
          <p:cNvPr id="3" name="Content Placeholder 2"/>
          <p:cNvSpPr>
            <a:spLocks noGrp="1"/>
          </p:cNvSpPr>
          <p:nvPr>
            <p:ph idx="1"/>
          </p:nvPr>
        </p:nvSpPr>
        <p:spPr/>
        <p:txBody>
          <a:bodyPr/>
          <a:lstStyle/>
          <a:p>
            <a:pPr>
              <a:defRPr sz="2000">
                <a:solidFill>
                  <a:srgbClr val="2D3748"/>
                </a:solidFill>
              </a:defRPr>
            </a:pPr>
            <a:r>
              <a:t>Repository: vva-—-version-&amp;-workflow-automator</a:t>
            </a:r>
          </a:p>
          <a:p>
            <a:pPr>
              <a:defRPr sz="2000">
                <a:solidFill>
                  <a:srgbClr val="2D3748"/>
                </a:solidFill>
              </a:defRPr>
            </a:pPr>
            <a:r>
              <a:t>Branch: main</a:t>
            </a:r>
          </a:p>
          <a:p>
            <a:pPr>
              <a:defRPr sz="2000">
                <a:solidFill>
                  <a:srgbClr val="2D3748"/>
                </a:solidFill>
              </a:defRPr>
            </a:pPr>
            <a:r>
              <a:t>Commit: 52665edfe18bd32a0592918e77c5e78a502fe06b</a:t>
            </a:r>
          </a:p>
          <a:p>
            <a:pPr>
              <a:defRPr sz="2000">
                <a:solidFill>
                  <a:srgbClr val="2D3748"/>
                </a:solidFill>
              </a:defRPr>
            </a:pPr>
            <a:r>
              <a:t>Commit message: Initial VVA project setup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Initial VVA project setup</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